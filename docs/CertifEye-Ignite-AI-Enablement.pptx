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5444787ef4b88" /><Relationship Type="http://schemas.openxmlformats.org/officeDocument/2006/relationships/extended-properties" Target="/docProps/app.xml" Id="Refe0164f50304899" /><Relationship Type="http://schemas.openxmlformats.org/officeDocument/2006/relationships/officeDocument" Target="/ppt/presentation.xml" Id="Re4567687ea77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84174ecc442bf"/>
  </p:sldMasterIdLst>
  <p:notesMasterIdLst>
    <p:notesMasterId xmlns:r="http://schemas.openxmlformats.org/officeDocument/2006/relationships" r:id="Re655f073a56e4307"/>
  </p:notesMasterIdLst>
  <p:sldIdLst>
    <p:sldId xmlns:r="http://schemas.openxmlformats.org/officeDocument/2006/relationships" id="256" r:id="Raf09449fb4b24f35"/>
    <p:sldId xmlns:r="http://schemas.openxmlformats.org/officeDocument/2006/relationships" id="257" r:id="R1943917956554273"/>
    <p:sldId xmlns:r="http://schemas.openxmlformats.org/officeDocument/2006/relationships" id="258" r:id="R63023847ded642fa"/>
    <p:sldId xmlns:r="http://schemas.openxmlformats.org/officeDocument/2006/relationships" id="259" r:id="R4ff7c5abc97f452e"/>
    <p:sldId xmlns:r="http://schemas.openxmlformats.org/officeDocument/2006/relationships" id="260" r:id="Rb8d68356c0cb49d3"/>
    <p:sldId xmlns:r="http://schemas.openxmlformats.org/officeDocument/2006/relationships" id="261" r:id="R91982d9067234591"/>
    <p:sldId xmlns:r="http://schemas.openxmlformats.org/officeDocument/2006/relationships" id="262" r:id="R1584e20f70cc442d"/>
    <p:sldId xmlns:r="http://schemas.openxmlformats.org/officeDocument/2006/relationships" id="263" r:id="Re3c329735ba242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67adc0d0264361" /><Relationship Type="http://schemas.openxmlformats.org/officeDocument/2006/relationships/slideMaster" Target="/ppt/slideMasters/slideMaster1.xml" Id="R93284174ecc442bf" /><Relationship Type="http://schemas.openxmlformats.org/officeDocument/2006/relationships/notesMaster" Target="/ppt/notesMasters/notesMaster1.xml" Id="Re655f073a56e4307" /><Relationship Type="http://schemas.openxmlformats.org/officeDocument/2006/relationships/presProps" Target="/ppt/presProps.xml" Id="R2fb44a6d45f3474a" /><Relationship Type="http://schemas.openxmlformats.org/officeDocument/2006/relationships/tableStyles" Target="/ppt/tableStyles.xml" Id="Rd25f0ad5d2f7415a" /><Relationship Type="http://schemas.openxmlformats.org/officeDocument/2006/relationships/slide" Target="/ppt/slides/slide1.xml" Id="Raf09449fb4b24f35" /><Relationship Type="http://schemas.openxmlformats.org/officeDocument/2006/relationships/slide" Target="/ppt/slides/slide2.xml" Id="R1943917956554273" /><Relationship Type="http://schemas.openxmlformats.org/officeDocument/2006/relationships/slide" Target="/ppt/slides/slide3.xml" Id="R63023847ded642fa" /><Relationship Type="http://schemas.openxmlformats.org/officeDocument/2006/relationships/slide" Target="/ppt/slides/slide4.xml" Id="R4ff7c5abc97f452e" /><Relationship Type="http://schemas.openxmlformats.org/officeDocument/2006/relationships/slide" Target="/ppt/slides/slide5.xml" Id="Rb8d68356c0cb49d3" /><Relationship Type="http://schemas.openxmlformats.org/officeDocument/2006/relationships/slide" Target="/ppt/slides/slide6.xml" Id="R91982d9067234591" /><Relationship Type="http://schemas.openxmlformats.org/officeDocument/2006/relationships/slide" Target="/ppt/slides/slide7.xml" Id="R1584e20f70cc442d" /><Relationship Type="http://schemas.openxmlformats.org/officeDocument/2006/relationships/slide" Target="/ppt/slides/slide8.xml" Id="Re3c329735ba242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90fe68860743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c9bb9a4434a01" /><Relationship Type="http://schemas.openxmlformats.org/officeDocument/2006/relationships/notesMaster" Target="/ppt/notesMasters/notesMaster1.xml" Id="R66bc47de3242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df2b434e5493d" /><Relationship Type="http://schemas.openxmlformats.org/officeDocument/2006/relationships/notesMaster" Target="/ppt/notesMasters/notesMaster1.xml" Id="R3bb09e1dccc847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94ca0eb294b72" /><Relationship Type="http://schemas.openxmlformats.org/officeDocument/2006/relationships/notesMaster" Target="/ppt/notesMasters/notesMaster1.xml" Id="R3575c7a6baa1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ca8a008b14904" /><Relationship Type="http://schemas.openxmlformats.org/officeDocument/2006/relationships/notesMaster" Target="/ppt/notesMasters/notesMaster1.xml" Id="R22d356074b8740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a0e5ba3b9b47dc" /><Relationship Type="http://schemas.openxmlformats.org/officeDocument/2006/relationships/notesMaster" Target="/ppt/notesMasters/notesMaster1.xml" Id="Rf2f14263032540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2ec5d5ada04644" /><Relationship Type="http://schemas.openxmlformats.org/officeDocument/2006/relationships/notesMaster" Target="/ppt/notesMasters/notesMaster1.xml" Id="Ra7c6ffab2706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fa2dfceab948a2" /><Relationship Type="http://schemas.openxmlformats.org/officeDocument/2006/relationships/notesMaster" Target="/ppt/notesMasters/notesMaster1.xml" Id="R826994b9496b43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a19944374a4e43" /><Relationship Type="http://schemas.openxmlformats.org/officeDocument/2006/relationships/notesMaster" Target="/ppt/notesMasters/notesMaster1.xml" Id="R037b21799595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8ec6a91ad40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6fd09e3c3742eb" /><Relationship Type="http://schemas.openxmlformats.org/officeDocument/2006/relationships/slideLayout" Target="/ppt/slideLayouts/slideLayout1.xml" Id="R9512bcbee243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2bcbee243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cf9b1318748fe" /><Relationship Type="http://schemas.openxmlformats.org/officeDocument/2006/relationships/notesSlide" Target="/ppt/notesSlides/notesSlide1.xml" Id="R1386b78eae39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f5fa6127146e3" /><Relationship Type="http://schemas.openxmlformats.org/officeDocument/2006/relationships/notesSlide" Target="/ppt/notesSlides/notesSlide2.xml" Id="Ra175dfb1d3be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2ae11e6f1489f" /><Relationship Type="http://schemas.openxmlformats.org/officeDocument/2006/relationships/notesSlide" Target="/ppt/notesSlides/notesSlide3.xml" Id="Reef97d8aac80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9f13589514010" /><Relationship Type="http://schemas.openxmlformats.org/officeDocument/2006/relationships/notesSlide" Target="/ppt/notesSlides/notesSlide4.xml" Id="Rf8303910de9e4f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482ce21094331" /><Relationship Type="http://schemas.openxmlformats.org/officeDocument/2006/relationships/notesSlide" Target="/ppt/notesSlides/notesSlide5.xml" Id="Ra076483b1ce240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37c0c99149b1" /><Relationship Type="http://schemas.openxmlformats.org/officeDocument/2006/relationships/notesSlide" Target="/ppt/notesSlides/notesSlide6.xml" Id="R0c637ba8cb7a4b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5c95fa4b14e22" /><Relationship Type="http://schemas.openxmlformats.org/officeDocument/2006/relationships/notesSlide" Target="/ppt/notesSlides/notesSlide7.xml" Id="R45189ba3e2da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ba7d379554714" /><Relationship Type="http://schemas.openxmlformats.org/officeDocument/2006/relationships/notesSlide" Target="/ppt/notesSlides/notesSlide8.xml" Id="Rbdccd3673b9b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7C27A-AC9A-44FD-8ED8-7C40FD4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72BCC-26BA-4403-B5A2-9F626894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9ACF2-6C99-4A7F-A35D-E05427A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BCB"/>
                </a:solidFill>
              </a:defRPr>
            </a:pPr>
            <a:r>
              <a:rPr sz="1200" b="1">
                <a:solidFill>
                  <a:srgbClr val="008BCB"/>
                </a:solidFill>
              </a:rPr>
              <a:t>CERTIFEYE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75D3A-AEFE-4C7F-AFBE-37BC133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E1B2C"/>
                </a:solidFill>
              </a:defRPr>
            </a:pPr>
            <a:r>
              <a:rPr sz="4050" b="1">
                <a:solidFill>
                  <a:srgbClr val="0E1B2C"/>
                </a:solidFill>
              </a:rPr>
              <a:t>Privacy-preserving</a:t>
            </a:r>
          </a:p>
          <a:p xmlns:a="http://schemas.openxmlformats.org/drawingml/2006/main">
            <a:pPr algn="l">
              <a:defRPr sz="4050" b="1">
                <a:solidFill>
                  <a:srgbClr val="0E1B2C"/>
                </a:solidFill>
              </a:defRPr>
            </a:pPr>
            <a:r>
              <a:rPr sz="4050" b="1">
                <a:solidFill>
                  <a:srgbClr val="0E1B2C"/>
                </a:solidFill>
              </a:rPr>
              <a:t>AI-assisted security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848D1-F0ED-4279-8150-4F82F21B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273"/>
                </a:solidFill>
              </a:defRPr>
            </a:pPr>
            <a:r>
              <a:rPr sz="1875" b="0">
                <a:solidFill>
                  <a:srgbClr val="536273"/>
                </a:solidFill>
              </a:rPr>
              <a:t>A practical pattern for turning sensitive technical evidence into safe, explainable security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C00CD-C28D-4CF0-9249-3D3D1BB4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00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F5F9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C8BBA-F061-45BF-8290-7909CC0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AI does not replace security judgment.</a:t>
            </a:r>
          </a:p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It makes an expert-designed assessment easier to repeat, explain, and improve.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8669A-67B6-425B-A328-886B84C4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Ignite AI Enablement</a:t>
            </a:r>
          </a:p>
        </p:txBody>
      </p:sp>
    </p:spTree>
    <p:extLst>
      <p:ext uri="{BB962C8B-B14F-4D97-AF65-F5344CB8AC3E}">
        <p14:creationId xmlns:p14="http://schemas.microsoft.com/office/powerpoint/2010/main" val="1714471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3A0A7-15D9-4B2E-BB0F-859F3475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2C9BE-6510-4E03-91A9-7B4FD67C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Security evidence is valuable—and sensitive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B44E6-D406-40D1-843D-42226007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AD CS assessments often sit at the intersection of high technical complexity and strict data-handling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0A7AF-9ED6-45D5-8487-78F85A09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2BB2C-C53F-45DC-AE3A-1B801FD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B96ED-B0F9-47AE-9566-8105D10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097D0-FC33-435B-8069-F8B51A8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A4A"/>
          </a:solidFill>
          <a:ln xmlns:a="http://schemas.openxmlformats.org/drawingml/2006/main" w="9525">
            <a:solidFill>
              <a:srgbClr val="D13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BA11C-221A-40E0-8BC6-1BB7161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Traditional checks are not the full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8C9C6-F883-4E9A-8F7F-E8DC827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Finding a posture issue is only the start; teams still need evidence, context, validation steps, and a safe remediation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E960C-9AB0-4213-9A1B-1A0139E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DB5DC-7600-4328-BE92-BBE1ABC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Raw assessment data is difficult to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37D27-F3FF-49DB-A5D7-47C452F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Identities, certificate history, access-control data, and infrastructure context may not belong in a broadly shared review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AFCC8-A0EA-47B8-9DC8-4896295A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B"/>
          </a:solidFill>
          <a:ln xmlns:a="http://schemas.openxmlformats.org/drawingml/2006/main" w="9525">
            <a:solidFill>
              <a:srgbClr val="00BF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A4454-2F49-45B0-AA06-13773C77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Less-specialized operators need a safe 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6A172-9306-4A8F-98C7-3D244A2C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A useful tool should make expert-designed evidence understandable without hiding uncertainty or pretending to prove compromise.</a:t>
            </a:r>
          </a:p>
        </p:txBody>
      </p:sp>
    </p:spTree>
    <p:extLst>
      <p:ext uri="{BB962C8B-B14F-4D97-AF65-F5344CB8AC3E}">
        <p14:creationId xmlns:p14="http://schemas.microsoft.com/office/powerpoint/2010/main" val="1939448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6DFB9B-48C9-456A-8494-EF6AC2CD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4D998-213E-463A-B302-0589B02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Collect locally. Analyze deterministically. Use AI optionally.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27FB6-C8A2-4829-8F4C-0D7AC00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workflow is intentionally bounded: the collection system produces evidence; the operator remains accountable for validation and change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78F56-DCDA-4BE0-8D62-C188D32D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1A035-D62B-4ABB-9E51-BD2F10B3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D1E19-CC5D-4C09-8EDD-2D50549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3</a:t>
            </a:r>
          </a:p>
        </p:txBody>
      </p:sp>
      <p:sp>
        <p:nvSpPr>
          <p:cNvPr id="7" name="workflow-0">
            <a:extLst xmlns:a="http://schemas.openxmlformats.org/drawingml/2006/main">
              <a:ext uri="{FF2B5EF4-FFF2-40B4-BE49-F238E27FC236}">
                <a16:creationId xmlns:a16="http://schemas.microsoft.com/office/drawing/2014/main" id="{0638FB72-8993-4BCD-975E-5A02A765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85C09-0ED7-4947-8A0B-BBA95E4F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E77F3-818F-4C92-A816-C6812CF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BCB"/>
                </a:solidFill>
              </a:defRPr>
            </a:pPr>
            <a:r>
              <a:rPr sz="1350" b="1">
                <a:solidFill>
                  <a:srgbClr val="008BC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44A9F-E9BE-48FF-BC1F-7DE9E12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Read-only</a:t>
            </a:r>
          </a:p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PowerShell collection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B146F-441A-4158-AC62-6015F469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6273"/>
                </a:solidFill>
              </a:defRPr>
            </a:pPr>
            <a:r>
              <a:rPr sz="25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12" name="workflow-1">
            <a:extLst xmlns:a="http://schemas.openxmlformats.org/drawingml/2006/main">
              <a:ext uri="{FF2B5EF4-FFF2-40B4-BE49-F238E27FC236}">
                <a16:creationId xmlns:a16="http://schemas.microsoft.com/office/drawing/2014/main" id="{B33429D1-F3C8-4B67-B2A5-3DD2B45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BC2E0-0F98-4A90-ACCC-0395BF7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866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823C4-4014-4054-9229-4A6AE5B7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A7"/>
                </a:solidFill>
              </a:defRPr>
            </a:pPr>
            <a:r>
              <a:rPr sz="1350" b="1">
                <a:solidFill>
                  <a:srgbClr val="C000A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29230-78BD-4239-B6F4-E97B79F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Local raw +</a:t>
            </a:r>
          </a:p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private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4FAA2-BF24-4516-98EF-F1D1231E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71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6273"/>
                </a:solidFill>
              </a:defRPr>
            </a:pPr>
            <a:r>
              <a:rPr sz="25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17" name="workflow-2">
            <a:extLst xmlns:a="http://schemas.openxmlformats.org/drawingml/2006/main">
              <a:ext uri="{FF2B5EF4-FFF2-40B4-BE49-F238E27FC236}">
                <a16:creationId xmlns:a16="http://schemas.microsoft.com/office/drawing/2014/main" id="{8B79D464-E4BE-4234-8E43-2559508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3F85E-8CB0-4DCB-B2D4-A0BF4E0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866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B"/>
          </a:solidFill>
          <a:ln xmlns:a="http://schemas.openxmlformats.org/drawingml/2006/main" w="9525">
            <a:solidFill>
              <a:srgbClr val="00BF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3A43D-09BD-4734-86F7-7E3764D3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BFCB"/>
                </a:solidFill>
              </a:defRPr>
            </a:pPr>
            <a:r>
              <a:rPr sz="1350" b="1">
                <a:solidFill>
                  <a:srgbClr val="00BFC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66424-2811-43FA-AA31-39C67280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Scrubbed, correlated</a:t>
            </a:r>
          </a:p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evidence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00D7F-CFCC-48AA-A8D0-22821CF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6273"/>
                </a:solidFill>
              </a:defRPr>
            </a:pPr>
            <a:r>
              <a:rPr sz="25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22" name="workflow-3">
            <a:extLst xmlns:a="http://schemas.openxmlformats.org/drawingml/2006/main">
              <a:ext uri="{FF2B5EF4-FFF2-40B4-BE49-F238E27FC236}">
                <a16:creationId xmlns:a16="http://schemas.microsoft.com/office/drawing/2014/main" id="{34CB5BB3-5FE0-4F50-B4EE-2614B98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750B5-7F9C-4EA7-99FB-99902FB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866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F8DE9-EDB0-4D84-961C-2B08FE5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BCB"/>
                </a:solidFill>
              </a:defRPr>
            </a:pPr>
            <a:r>
              <a:rPr sz="1350" b="1">
                <a:solidFill>
                  <a:srgbClr val="008BC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5EC50-EFC6-4DB1-A35B-BC19AA7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Deterministic</a:t>
            </a:r>
          </a:p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offline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395B2-7B4B-412F-A247-BCFF13A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6273"/>
                </a:solidFill>
              </a:defRPr>
            </a:pPr>
            <a:r>
              <a:rPr sz="25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27" name="workflow-4">
            <a:extLst xmlns:a="http://schemas.openxmlformats.org/drawingml/2006/main">
              <a:ext uri="{FF2B5EF4-FFF2-40B4-BE49-F238E27FC236}">
                <a16:creationId xmlns:a16="http://schemas.microsoft.com/office/drawing/2014/main" id="{A55C0FF9-6C57-4D94-812E-2EB130BD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B159E-7341-4F71-B287-34CF4BB1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866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65C6B8-8E40-470D-A5A6-1E93375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A7"/>
                </a:solidFill>
              </a:defRPr>
            </a:pPr>
            <a:r>
              <a:rPr sz="1350" b="1">
                <a:solidFill>
                  <a:srgbClr val="C000A7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34885-8F97-444C-B218-4C681CF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Optional AI-assisted</a:t>
            </a:r>
          </a:p>
          <a:p xmlns:a="http://schemas.openxmlformats.org/drawingml/2006/main">
            <a:pPr algn="l">
              <a:defRPr sz="1500" b="1">
                <a:solidFill>
                  <a:srgbClr val="0E1B2C"/>
                </a:solidFill>
              </a:defRPr>
            </a:pPr>
            <a:r>
              <a:rPr sz="1500" b="1">
                <a:solidFill>
                  <a:srgbClr val="0E1B2C"/>
                </a:solidFill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65492-FFE2-4F96-8396-1C9E2276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371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6273"/>
                </a:solidFill>
              </a:defRPr>
            </a:pPr>
            <a:r>
              <a:rPr sz="25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D5E57-5025-43DC-AC24-49B27908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73"/>
                </a:solidFill>
              </a:defRPr>
            </a:pPr>
            <a:r>
              <a:rPr sz="1650" b="0">
                <a:solidFill>
                  <a:srgbClr val="536273"/>
                </a:solidFill>
              </a:rPr>
              <a:t>The safe decision point: an operator chooses either local-only analysis or a scrubbed package for governed AI review.</a:t>
            </a:r>
          </a:p>
        </p:txBody>
      </p:sp>
    </p:spTree>
    <p:extLst>
      <p:ext uri="{BB962C8B-B14F-4D97-AF65-F5344CB8AC3E}">
        <p14:creationId xmlns:p14="http://schemas.microsoft.com/office/powerpoint/2010/main" val="1226017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88449-A62E-4837-996F-D88EE45D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WHY THIS WORKS FOR AI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14831-4BEA-4C55-9DAE-2F31E01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Give AI structured evidence—not uncontrolled system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CEC98-389D-484B-A10E-6F5AF248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privacy and safety boundaries are part of the product design, not a disclaimer added at the 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1720-7E4C-42D5-8D83-408217D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42B36-1029-46A8-8AB0-0225B6C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325-F8EE-4194-8C05-1FD9B1C9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4</a:t>
            </a:r>
          </a:p>
        </p:txBody>
      </p:sp>
      <p:sp>
        <p:nvSpPr>
          <p:cNvPr id="7" name="local-boundary">
            <a:extLst xmlns:a="http://schemas.openxmlformats.org/drawingml/2006/main">
              <a:ext uri="{FF2B5EF4-FFF2-40B4-BE49-F238E27FC236}">
                <a16:creationId xmlns:a16="http://schemas.microsoft.com/office/drawing/2014/main" id="{57FB8507-2C6B-4B97-AFEE-4DEF9DB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01F0F-3DC5-45EC-A716-EA7989D3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B2C"/>
                </a:solidFill>
              </a:defRPr>
            </a:pPr>
            <a:r>
              <a:rPr sz="1800" b="1">
                <a:solidFill>
                  <a:srgbClr val="0E1B2C"/>
                </a:solidFill>
              </a:rPr>
              <a:t>Always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83990-5DC4-48BA-9326-028EB3A4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8B5A3-708B-4DBD-8CB7-ED35AA3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Raw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EA7F3-7CCF-4F99-ACC3-ED56BF4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A24DC-EC29-4E8D-8CAE-A8748588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Salts and token maps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31C6F-641F-4B56-A8AD-42C3EC16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B034-FDB9-49B2-B355-70BB834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Private manifests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632FE-E465-4E18-AEF2-5C2AA1B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22FBA-5182-4B66-94F5-F7437C20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Detailed local evidence</a:t>
            </a:r>
          </a:p>
        </p:txBody>
      </p:sp>
      <p:sp>
        <p:nvSpPr>
          <p:cNvPr id="17" name="review-boundary">
            <a:extLst xmlns:a="http://schemas.openxmlformats.org/drawingml/2006/main">
              <a:ext uri="{FF2B5EF4-FFF2-40B4-BE49-F238E27FC236}">
                <a16:creationId xmlns:a16="http://schemas.microsoft.com/office/drawing/2014/main" id="{C8B1BD5B-CA44-451F-98F6-B46A9FB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2FC90-1E01-4315-9DAC-5E94785F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B2C"/>
                </a:solidFill>
              </a:defRPr>
            </a:pPr>
            <a:r>
              <a:rPr sz="1800" b="1">
                <a:solidFill>
                  <a:srgbClr val="0E1B2C"/>
                </a:solidFill>
              </a:rPr>
              <a:t>Optional AI review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A506A-4859-4F0D-B962-F6656505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9A4D9-2620-40AF-B3B6-161EBE9B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337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Scrubbed tokens and relationships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FED20-3B7B-4D5E-9223-01FBEF8D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C98B6-A061-443E-81AD-73BF21B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Schema, coverage, and warnings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27738-2D08-416F-949D-AEF5DD27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4D692-4F40-47F6-A028-317C2787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Deterministic findings and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AB149-51AB-4B37-BBB8-7967B4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9B7E7D-9B11-403F-A8C5-C8FA550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No raw identities or private mappings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1A992-9949-4E23-9CF7-0618FB81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72150"/>
            <a:ext cx="922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13A4A"/>
                </a:solidFill>
              </a:defRPr>
            </a:pPr>
            <a:r>
              <a:rPr sz="1650" b="1">
                <a:solidFill>
                  <a:srgbClr val="D13A4A"/>
                </a:solidFill>
              </a:rPr>
              <a:t>Operator validation and authorization are required before changing PKI.</a:t>
            </a:r>
          </a:p>
        </p:txBody>
      </p:sp>
    </p:spTree>
    <p:extLst>
      <p:ext uri="{BB962C8B-B14F-4D97-AF65-F5344CB8AC3E}">
        <p14:creationId xmlns:p14="http://schemas.microsoft.com/office/powerpoint/2010/main" val="976443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D96EC-2B0E-4ED6-B2B2-843AD8C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22FD1-CA03-4D69-8B93-648F6D7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Deterministic analysis and AI assistance do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26B88-AAEE-4561-8B63-C1C8D37B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static report is the repeatable baseline. AI is an optional layer for explanation, prioritization, and better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8758-06E6-4538-81C1-6A0A6DF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39A91-EAF7-4F3D-800D-604188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02FBC-F24F-49DA-B3A6-A972818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30BC-1572-45A3-83B0-FA401A1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24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FC845-2D05-41DE-9FA6-EC1A0B03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5124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8C2D0-D1CE-4093-A9FA-FA66CA9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B2C"/>
                </a:solidFill>
              </a:defRPr>
            </a:pPr>
            <a:r>
              <a:rPr sz="1950" b="1">
                <a:solidFill>
                  <a:srgbClr val="0E1B2C"/>
                </a:solidFill>
              </a:rPr>
              <a:t>Deterministic offline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D8A79-0184-4BAA-9600-3CE30F16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B2C"/>
                </a:solidFill>
              </a:defRPr>
            </a:pPr>
            <a:r>
              <a:rPr sz="1950" b="1">
                <a:solidFill>
                  <a:srgbClr val="0E1B2C"/>
                </a:solidFill>
              </a:rPr>
              <a:t>Optional AI-assisted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81E7D-135A-4A00-AB05-6D639C1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26E4F-9CF6-4A9F-8C17-4B7634C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Repeatable ESC posture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A9BAA-12CA-43E7-90F3-CD7F8E51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D3D36-583B-4863-880A-F591C88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4FA68-9FBE-43D8-AA57-387BE85C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Stable findings, coverage, and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BF228-F9D3-4D74-91B2-DBA03DB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FF675-5610-429C-A6C3-A85ED24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7DE00-CA1C-41B4-91D5-7A11E04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Regression-tested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B7E5E-D9D7-4EBB-8CC7-E292F04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1B267-6C36-40E5-91E6-2830F6F1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97C00-B0D6-4E92-B103-E7CF819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Works fully offline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14879-3C12-40D1-AF51-5EF60E0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36DC1-FAD9-45A0-A680-092165A6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52028-C811-4517-8BC4-7483A88C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62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Plain-language explanations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69FBB-FFFA-41D3-A624-8B46F1A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B2F02-C7C9-44CF-AD7C-25CB9CB6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Connection of related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09BDD-9B9C-4FBA-B434-C7795F6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18C5F-96FD-4929-A17C-4E49F19A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2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Remediation sequencing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3506E-3131-4349-ADEF-A70ABFA7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48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DAF33-4653-477C-9415-62A8D43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Validation questions and caveats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FB7807-AF39-4368-BA0B-CC5C15B8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13A4A"/>
                </a:solidFill>
              </a:defRPr>
            </a:pPr>
            <a:r>
              <a:rPr sz="1650" b="1">
                <a:solidFill>
                  <a:srgbClr val="D13A4A"/>
                </a:solidFill>
              </a:rPr>
              <a:t>Neither mode turns an isolated signal into a compromise claim.</a:t>
            </a:r>
          </a:p>
        </p:txBody>
      </p:sp>
    </p:spTree>
    <p:extLst>
      <p:ext uri="{BB962C8B-B14F-4D97-AF65-F5344CB8AC3E}">
        <p14:creationId xmlns:p14="http://schemas.microsoft.com/office/powerpoint/2010/main" val="277021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9195D-EA37-4102-8291-BB641150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HOW AI ACCELERATED 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A4E58-DF0E-4FA2-8F19-5B282DF6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Expert guidance turned assistance into an engineering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50D0A-B3AF-404E-B49B-50AAA41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useful pattern was structured collaboration, not a single broad request to “build a security tool.”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84779-C2E6-43F7-85A9-E4495E9B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2E0A-6C2B-4C66-A395-17E73CDA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BE969-C4BF-49E5-BD0F-90F5910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8A38-9442-4A08-B0C8-BDB4BCA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468C5-DB1D-4CA1-9980-32DF706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Define the security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1956A-73A2-4A89-84E4-311851A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57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Scope, safety boundaries, evidence requirements, and no-go zones.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D4756-F75E-46B8-9525-5AC537DF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72F76-B4F6-4946-AFC1-DF21714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96E8-8C8D-40E2-8D7F-4709D889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Break work into contracts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9078A-9D16-44CF-A231-574D0DF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Schemas, collectors, report rules, graphing, docs, fixtures, and release gates.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9AED3-3896-4456-851F-A483D99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97856-162A-4529-9533-F2FC194F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F2185-FF81-46FE-AB3A-7D8EDD9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Review like a practitioner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AF36E-3BAC-42BC-9E15-F7AFF62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Challenge false positives, caveats, UX, report wording, and remediation accuracy.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557EA-6A5F-4490-8B8A-8594733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10E7C-48CB-45A9-9CC4-928F9F1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898C9-9053-494F-AA31-BECAD35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Test against varied fixtures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18DAB-6B28-48E1-9565-CF6E1FC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863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Prevent the tool from becoming tuned to one environment or one sample report.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667DC-9BB0-4686-976A-3AA476F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8FE75-0A69-49CB-B1A5-782E239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A7"/>
                </a:solidFill>
              </a:defRPr>
            </a:pPr>
            <a:r>
              <a:rPr sz="1650" b="1">
                <a:solidFill>
                  <a:srgbClr val="C000A7"/>
                </a:solidFill>
              </a:rPr>
              <a:t>Human expertise supplies the model and acceptance criteria; AI accelerates implementation and refinement inside those boundaries.</a:t>
            </a:r>
          </a:p>
        </p:txBody>
      </p:sp>
    </p:spTree>
    <p:extLst>
      <p:ext uri="{BB962C8B-B14F-4D97-AF65-F5344CB8AC3E}">
        <p14:creationId xmlns:p14="http://schemas.microsoft.com/office/powerpoint/2010/main" val="1272671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8DADB-2DA6-4AF0-9BDA-300FD86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C3393-9F6F-425A-B16B-E616DD40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Show the safe workflow, not a black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61418-2B77-4EDD-896E-7D505F3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Use synthetic data only. Let the audience see what is collected, what remains local, and what AI can meaningfully add.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5C7A6-BEA2-4D0D-B995-34F4E58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BBD35-E49F-4F32-B8D0-112301E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96DB-4BF0-458C-8322-7002979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11FF7-381A-408C-BFA0-F316F03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BDD5A-4333-499C-9B89-BCBCA354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doctor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DCFEE-61E5-412D-8EFC-08E1A19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88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Readiness checks; makes no assessment-data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5F70C-2562-40A9-B142-4D0AE91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38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20D33-3250-4C58-83D5-75E6C2B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2CE59-2B97-4543-9C56-B775EE2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options /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3A934-F0E4-4DD8-B46C-49A4F156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Configured paths, scope, and safety mode before collection.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5BD23-4B73-451F-88A9-50C8101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57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7AF41-8C0C-4B0C-9487-6DCCF14B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B2272-AAE2-472B-88DB-D8C1E664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A8FE3-EFC8-4BD4-8E7A-A828C72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6712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Offline deterministic findings, coverage, reports, and graph.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89FC2-2076-4778-BC54-8F19BC99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76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8E014-025D-4D97-9A92-1DBFAF2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2A4D1-1A00-421F-9F58-305879E7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CE0B2-2781-4D75-B22C-57E824FE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Evidence, validation guidance, remediation, and caveats.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1692F-F485-4A4F-A20D-C3D11EA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95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B172C-E7CB-43FF-8601-FF39294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8DDC8-D9F3-40CD-9D59-16F7FA9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D4EBB-F728-430E-ADCF-36CFDB6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Structured scrubbed package for optional AI review.</a:t>
            </a:r>
          </a:p>
        </p:txBody>
      </p:sp>
    </p:spTree>
    <p:extLst>
      <p:ext uri="{BB962C8B-B14F-4D97-AF65-F5344CB8AC3E}">
        <p14:creationId xmlns:p14="http://schemas.microsoft.com/office/powerpoint/2010/main" val="1857743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F23E6-BEAA-480C-8E28-4B229BA2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DD008-175E-4409-902B-FDEA287A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Responsible AI starts with responsible evidence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AE5E-1A3F-4962-915C-1F97B660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CertifEye shows a reusable pattern for security tooling: bounded collection, safe data handling, tested baseline analysis, and optional AI enhancement.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5A7FA-8F74-4877-9DDC-1A02AB83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712E-2497-4D15-A564-705E629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AI Enablement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2AF5-8CAF-4AA9-8D9B-023F3D4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47FB6-A7BA-4BEF-8E67-8CE3BB2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F5F9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1C9F8-CBAE-44A5-B9E7-8FE82A17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Expert-designed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60DD1-36B6-4FB9-AD01-5CED946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86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BCB"/>
                </a:solidFill>
              </a:defRPr>
            </a:pPr>
            <a:r>
              <a:rPr sz="2025" b="1">
                <a:solidFill>
                  <a:srgbClr val="008BCB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D4AEE-5995-40A9-9D94-F1D6E14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Privacy-preserving packaging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83809-C85B-4B1D-8F0E-67FF145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BCB"/>
                </a:solidFill>
              </a:defRPr>
            </a:pPr>
            <a:r>
              <a:rPr sz="2025" b="1">
                <a:solidFill>
                  <a:srgbClr val="008BCB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4D96C-0414-4801-9BF3-007A383C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AI-assisted understanding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0B8B7-ECC9-4801-AFEE-D560ABA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000A7"/>
                </a:solidFill>
              </a:defRPr>
            </a:pPr>
            <a:r>
              <a:rPr sz="1875" b="1">
                <a:solidFill>
                  <a:srgbClr val="C000A7"/>
                </a:solidFill>
              </a:rPr>
              <a:t>= a more repeatable path from technical evidence to validated security improvement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F95A2-D20C-4A4E-8B5E-DCF65ABD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986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Next: apply the same pattern to broader Active Directory, GPO, DNS, and audit-readiness assessments.</a:t>
            </a:r>
          </a:p>
        </p:txBody>
      </p:sp>
    </p:spTree>
    <p:extLst>
      <p:ext uri="{BB962C8B-B14F-4D97-AF65-F5344CB8AC3E}">
        <p14:creationId xmlns:p14="http://schemas.microsoft.com/office/powerpoint/2010/main" val="1750082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2026-07-24T04:15:09.0370000Z</dcterms:created>
  <dcterms:modified xsi:type="dcterms:W3CDTF">2026-07-24T04:15:09.0370000Z</dcterms:modified>
</coreProperties>
</file>