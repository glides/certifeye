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ecda4ea1464542" /><Relationship Type="http://schemas.openxmlformats.org/officeDocument/2006/relationships/extended-properties" Target="/docProps/app.xml" Id="R61be89e0a2224a5d" /><Relationship Type="http://schemas.openxmlformats.org/officeDocument/2006/relationships/officeDocument" Target="/ppt/presentation.xml" Id="Re05b6d4bb922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d283e8a004e12"/>
  </p:sldMasterIdLst>
  <p:notesMasterIdLst>
    <p:notesMasterId xmlns:r="http://schemas.openxmlformats.org/officeDocument/2006/relationships" r:id="R4b953acf83f2446e"/>
  </p:notesMasterIdLst>
  <p:sldIdLst>
    <p:sldId xmlns:r="http://schemas.openxmlformats.org/officeDocument/2006/relationships" id="256" r:id="Rc2ad290268124ade"/>
    <p:sldId xmlns:r="http://schemas.openxmlformats.org/officeDocument/2006/relationships" id="257" r:id="Rd8994e6ce9e44157"/>
    <p:sldId xmlns:r="http://schemas.openxmlformats.org/officeDocument/2006/relationships" id="258" r:id="R2d88ac7ba9be4b5a"/>
    <p:sldId xmlns:r="http://schemas.openxmlformats.org/officeDocument/2006/relationships" id="259" r:id="R0553753a020c46b4"/>
    <p:sldId xmlns:r="http://schemas.openxmlformats.org/officeDocument/2006/relationships" id="260" r:id="R06de539da7aa4756"/>
    <p:sldId xmlns:r="http://schemas.openxmlformats.org/officeDocument/2006/relationships" id="261" r:id="Re23d0d0232724496"/>
    <p:sldId xmlns:r="http://schemas.openxmlformats.org/officeDocument/2006/relationships" id="262" r:id="R8fcc0cf2936245b1"/>
    <p:sldId xmlns:r="http://schemas.openxmlformats.org/officeDocument/2006/relationships" id="263" r:id="R663fb972ee2a4c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e483c6e1044df" /><Relationship Type="http://schemas.openxmlformats.org/officeDocument/2006/relationships/slideMaster" Target="/ppt/slideMasters/slideMaster1.xml" Id="R1f9d283e8a004e12" /><Relationship Type="http://schemas.openxmlformats.org/officeDocument/2006/relationships/notesMaster" Target="/ppt/notesMasters/notesMaster1.xml" Id="R4b953acf83f2446e" /><Relationship Type="http://schemas.openxmlformats.org/officeDocument/2006/relationships/presProps" Target="/ppt/presProps.xml" Id="Rb99c0896d3f54587" /><Relationship Type="http://schemas.openxmlformats.org/officeDocument/2006/relationships/tableStyles" Target="/ppt/tableStyles.xml" Id="Rb2d4b33386f449aa" /><Relationship Type="http://schemas.openxmlformats.org/officeDocument/2006/relationships/slide" Target="/ppt/slides/slide1.xml" Id="Rc2ad290268124ade" /><Relationship Type="http://schemas.openxmlformats.org/officeDocument/2006/relationships/slide" Target="/ppt/slides/slide2.xml" Id="Rd8994e6ce9e44157" /><Relationship Type="http://schemas.openxmlformats.org/officeDocument/2006/relationships/slide" Target="/ppt/slides/slide3.xml" Id="R2d88ac7ba9be4b5a" /><Relationship Type="http://schemas.openxmlformats.org/officeDocument/2006/relationships/slide" Target="/ppt/slides/slide4.xml" Id="R0553753a020c46b4" /><Relationship Type="http://schemas.openxmlformats.org/officeDocument/2006/relationships/slide" Target="/ppt/slides/slide5.xml" Id="R06de539da7aa4756" /><Relationship Type="http://schemas.openxmlformats.org/officeDocument/2006/relationships/slide" Target="/ppt/slides/slide6.xml" Id="Re23d0d0232724496" /><Relationship Type="http://schemas.openxmlformats.org/officeDocument/2006/relationships/slide" Target="/ppt/slides/slide7.xml" Id="R8fcc0cf2936245b1" /><Relationship Type="http://schemas.openxmlformats.org/officeDocument/2006/relationships/slide" Target="/ppt/slides/slide8.xml" Id="R663fb972ee2a4c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5a7579c3414a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85ec0cf519453e" /><Relationship Type="http://schemas.openxmlformats.org/officeDocument/2006/relationships/notesMaster" Target="/ppt/notesMasters/notesMaster1.xml" Id="R9b26fc0fb24a4e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9613263ebe4f08" /><Relationship Type="http://schemas.openxmlformats.org/officeDocument/2006/relationships/notesMaster" Target="/ppt/notesMasters/notesMaster1.xml" Id="R0488f5cfc47b44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9ed68eee54e82" /><Relationship Type="http://schemas.openxmlformats.org/officeDocument/2006/relationships/notesMaster" Target="/ppt/notesMasters/notesMaster1.xml" Id="R23b4788359af46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597c9de663444f" /><Relationship Type="http://schemas.openxmlformats.org/officeDocument/2006/relationships/notesMaster" Target="/ppt/notesMasters/notesMaster1.xml" Id="R6ea75dad8e8c4a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3c2deffdde4b58" /><Relationship Type="http://schemas.openxmlformats.org/officeDocument/2006/relationships/notesMaster" Target="/ppt/notesMasters/notesMaster1.xml" Id="R3b946c23d03344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3033b815044ab5" /><Relationship Type="http://schemas.openxmlformats.org/officeDocument/2006/relationships/notesMaster" Target="/ppt/notesMasters/notesMaster1.xml" Id="R16a0481271d645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dc2cff7dc54d0e" /><Relationship Type="http://schemas.openxmlformats.org/officeDocument/2006/relationships/notesMaster" Target="/ppt/notesMasters/notesMaster1.xml" Id="R15361f7c15e649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42b0fba4ba4abd" /><Relationship Type="http://schemas.openxmlformats.org/officeDocument/2006/relationships/notesMaster" Target="/ppt/notesMasters/notesMaster1.xml" Id="Ra69b6772801e41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3a80529dbd45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1b1f2fdc34459d" /><Relationship Type="http://schemas.openxmlformats.org/officeDocument/2006/relationships/slideLayout" Target="/ppt/slideLayouts/slideLayout1.xml" Id="R033edc2c19fe45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3edc2c19fe45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cf2d30b2f4b6d" /><Relationship Type="http://schemas.openxmlformats.org/officeDocument/2006/relationships/notesSlide" Target="/ppt/notesSlides/notesSlide1.xml" Id="R008b9b08131441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3d7f886c54eab" /><Relationship Type="http://schemas.openxmlformats.org/officeDocument/2006/relationships/notesSlide" Target="/ppt/notesSlides/notesSlide2.xml" Id="R33d593aca7a34c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65e18c2474041" /><Relationship Type="http://schemas.openxmlformats.org/officeDocument/2006/relationships/notesSlide" Target="/ppt/notesSlides/notesSlide3.xml" Id="R7698454520df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d927634174ebc" /><Relationship Type="http://schemas.openxmlformats.org/officeDocument/2006/relationships/notesSlide" Target="/ppt/notesSlides/notesSlide4.xml" Id="R0ee2562a5fdc4b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f5d82d147423c" /><Relationship Type="http://schemas.openxmlformats.org/officeDocument/2006/relationships/notesSlide" Target="/ppt/notesSlides/notesSlide5.xml" Id="R3e92731225c146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103ef7fe24461" /><Relationship Type="http://schemas.openxmlformats.org/officeDocument/2006/relationships/notesSlide" Target="/ppt/notesSlides/notesSlide6.xml" Id="R64739ceacb8646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e5b2f1f4e484d" /><Relationship Type="http://schemas.openxmlformats.org/officeDocument/2006/relationships/notesSlide" Target="/ppt/notesSlides/notesSlide7.xml" Id="R95e01dc7ab0c46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7a8b84cd544fc" /><Relationship Type="http://schemas.openxmlformats.org/officeDocument/2006/relationships/notesSlide" Target="/ppt/notesSlides/notesSlide8.xml" Id="Racd703e3375f44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A999-0FB5-496B-BC86-0462054C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FC496-81A5-4C60-83CD-AD8C210D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D2A11-1B3C-4A63-932C-FB1181C2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BCB"/>
                </a:solidFill>
              </a:defRPr>
            </a:pPr>
            <a:r>
              <a:rPr sz="1200" b="1">
                <a:solidFill>
                  <a:srgbClr val="008BCB"/>
                </a:solidFill>
              </a:rPr>
              <a:t>CERTIFEYE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9E30E-D4DC-4D9E-AE21-098AB028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E1B2C"/>
                </a:solidFill>
              </a:defRPr>
            </a:pPr>
            <a:r>
              <a:rPr sz="4350" b="1">
                <a:solidFill>
                  <a:srgbClr val="0E1B2C"/>
                </a:solidFill>
              </a:rPr>
              <a:t>CertifEye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8B382-3799-4CFD-A79E-AC76BF98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E1B2C"/>
                </a:solidFill>
              </a:defRPr>
            </a:pPr>
            <a:r>
              <a:rPr sz="2475" b="1">
                <a:solidFill>
                  <a:srgbClr val="0E1B2C"/>
                </a:solidFill>
              </a:rPr>
              <a:t>A privacy-preserving AI-assisted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06C1E-0DE2-4F0A-9597-CF601690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273"/>
                </a:solidFill>
              </a:defRPr>
            </a:pPr>
            <a:r>
              <a:rPr sz="1875" b="0">
                <a:solidFill>
                  <a:srgbClr val="536273"/>
                </a:solidFill>
              </a:rPr>
              <a:t>Turning AD CS evidence into useful security decisions while keeping sensitive details local.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940E5-94A0-407A-BDAD-79410EB4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00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F5F9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F64FF-3A38-41FB-90C6-0C54D55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914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AI can help us understand the evidence and decide what to review next.</a:t>
            </a:r>
          </a:p>
          <a:p xmlns:a="http://schemas.openxmlformats.org/drawingml/2006/main">
            <a:pPr algn="l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People still make the security 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9D23B-871D-4769-B0E3-3CC1A2AE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3"/>
                </a:solidFill>
              </a:defRPr>
            </a:pPr>
            <a:r>
              <a:rPr sz="1200" b="0">
                <a:solidFill>
                  <a:srgbClr val="536273"/>
                </a:solidFill>
              </a:rPr>
              <a:t>CertifEye  •  AD CS Assessment</a:t>
            </a:r>
          </a:p>
        </p:txBody>
      </p:sp>
    </p:spTree>
    <p:extLst>
      <p:ext uri="{BB962C8B-B14F-4D97-AF65-F5344CB8AC3E}">
        <p14:creationId xmlns:p14="http://schemas.microsoft.com/office/powerpoint/2010/main" val="807646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7B1BD-3561-4268-889E-53D17804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B50F7-909B-40FF-BBE6-764E8FF5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Security evidence is valuable—and sensitive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A86D7-6941-40DB-B476-28663CB2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AD CS assessments combine technical detail with information that may need careful handling.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29C0B-8108-4A7E-8849-970157C7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48F82-8AB7-47A1-BD2B-99F88F2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9C0EA-D048-46C7-B110-308F82FC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F5996-3E8C-41A6-85B7-CC9A0492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3A4A"/>
          </a:solidFill>
          <a:ln xmlns:a="http://schemas.openxmlformats.org/drawingml/2006/main" w="9525">
            <a:solidFill>
              <a:srgbClr val="D13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2E7B1-A42F-4241-8CDE-D0EDDBFE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Finding a problem is only the first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6581A-BABA-46C2-9C9E-1DF0C22C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A finding tells us where to look. It does not tell us who owns it, what changed, or what should happen next.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5194F-2DA1-4E37-9AA2-0E93811E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268AE-4542-4E98-B5C6-14B681F5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Assessment data is not easy to share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F4277-FF7D-4CB0-ACE4-0F5872AC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Certificate history, access-control details, and identities may be too sensitive for a broad review or an external service.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3309D-AD7D-4160-A2B5-ACF7827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B"/>
          </a:solidFill>
          <a:ln xmlns:a="http://schemas.openxmlformats.org/drawingml/2006/main" w="9525">
            <a:solidFill>
              <a:srgbClr val="00BF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4F9B8-E4B8-4968-BB3E-37D9F9E0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Good evidence should be usable by more than PKI specialists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3209C-1C03-4C46-96B9-47742249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482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Clear reports and validation steps help administrators act on the evidence without needing to become certificate-services experts.</a:t>
            </a:r>
          </a:p>
        </p:txBody>
      </p:sp>
    </p:spTree>
    <p:extLst>
      <p:ext uri="{BB962C8B-B14F-4D97-AF65-F5344CB8AC3E}">
        <p14:creationId xmlns:p14="http://schemas.microsoft.com/office/powerpoint/2010/main" val="8931823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D3CD1A-643F-46D9-A632-B6FAB25C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HOW CERTIFEYE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42673-3986-4B89-B367-ED7CAF05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How CertifEye handles assessment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C4E15-77AD-413B-8D73-555D6618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CertifEye collects and analyzes data locally. When AI review makes sense, it uses a scrubbed package rather than raw assessment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A3CB3-F6E0-40DA-A830-24B482DA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AD42-FAD6-4ED8-9993-F4ACEC82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D3CB2-A757-4831-998F-97648ED6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3</a:t>
            </a:r>
          </a:p>
        </p:txBody>
      </p:sp>
      <p:sp>
        <p:nvSpPr>
          <p:cNvPr id="7" name="workflow-0">
            <a:extLst xmlns:a="http://schemas.openxmlformats.org/drawingml/2006/main">
              <a:ext uri="{FF2B5EF4-FFF2-40B4-BE49-F238E27FC236}">
                <a16:creationId xmlns:a16="http://schemas.microsoft.com/office/drawing/2014/main" id="{F197D7E2-E03A-4347-B1F0-B6D46130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790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DB63B-D78E-4DC3-9321-F6BD4439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74EA2-36D0-4F80-B88E-E9BC3B4F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BCB"/>
                </a:solidFill>
              </a:defRPr>
            </a:pPr>
            <a:r>
              <a:rPr sz="1350" b="1">
                <a:solidFill>
                  <a:srgbClr val="008BC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4CC8A-ED0E-455F-9C32-E3A221C4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Collect</a:t>
            </a:r>
          </a:p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locally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34679-DFFD-4DC9-ADBD-EB0681C8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242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6273"/>
                </a:solidFill>
              </a:defRPr>
            </a:pPr>
            <a:r>
              <a:rPr sz="22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12" name="workflow-1">
            <a:extLst xmlns:a="http://schemas.openxmlformats.org/drawingml/2006/main">
              <a:ext uri="{FF2B5EF4-FFF2-40B4-BE49-F238E27FC236}">
                <a16:creationId xmlns:a16="http://schemas.microsoft.com/office/drawing/2014/main" id="{E5B65D86-1429-485B-B975-DEC63FD3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1790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4A2AF-D4DD-4BE0-8335-7EE600EC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14650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E0169-832F-48A8-A96C-2384490F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A7"/>
                </a:solidFill>
              </a:defRPr>
            </a:pPr>
            <a:r>
              <a:rPr sz="1350" b="1">
                <a:solidFill>
                  <a:srgbClr val="C000A7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FA165-339D-4B52-8A40-34E1BBC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Keep</a:t>
            </a:r>
          </a:p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private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99570-B96F-466B-8FD6-055AE182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242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6273"/>
                </a:solidFill>
              </a:defRPr>
            </a:pPr>
            <a:r>
              <a:rPr sz="22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17" name="workflow-2">
            <a:extLst xmlns:a="http://schemas.openxmlformats.org/drawingml/2006/main">
              <a:ext uri="{FF2B5EF4-FFF2-40B4-BE49-F238E27FC236}">
                <a16:creationId xmlns:a16="http://schemas.microsoft.com/office/drawing/2014/main" id="{A5012284-3933-4D51-B759-93F191F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1790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B9A23-105F-43B5-A4B9-894D0DD5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14650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FCB"/>
          </a:solidFill>
          <a:ln xmlns:a="http://schemas.openxmlformats.org/drawingml/2006/main" w="9525">
            <a:solidFill>
              <a:srgbClr val="00BF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E2CBD-88A4-4E45-A10C-D5F867EB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24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BFCB"/>
                </a:solidFill>
              </a:defRPr>
            </a:pPr>
            <a:r>
              <a:rPr sz="1350" b="1">
                <a:solidFill>
                  <a:srgbClr val="00BFC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265D0-AFBD-4A66-AD28-006F97C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76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Scrub and</a:t>
            </a:r>
          </a:p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correlate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D5194-265F-4A99-87DD-9C3587C7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242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6273"/>
                </a:solidFill>
              </a:defRPr>
            </a:pPr>
            <a:r>
              <a:rPr sz="22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22" name="workflow-3">
            <a:extLst xmlns:a="http://schemas.openxmlformats.org/drawingml/2006/main">
              <a:ext uri="{FF2B5EF4-FFF2-40B4-BE49-F238E27FC236}">
                <a16:creationId xmlns:a16="http://schemas.microsoft.com/office/drawing/2014/main" id="{12DD21DE-0CB9-4550-815A-9A9DCBED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1790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8D07F-2182-41DB-B6C4-58F727B0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3CEE3-D168-4A16-99CC-A3010B97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BCB"/>
                </a:solidFill>
              </a:defRPr>
            </a:pPr>
            <a:r>
              <a:rPr sz="1350" b="1">
                <a:solidFill>
                  <a:srgbClr val="008BCB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87E51-DFF3-4E0E-9B19-F8CBBB8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76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Build offline</a:t>
            </a:r>
          </a:p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DDEE0-BB3A-4384-8E83-13AD51E0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242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6273"/>
                </a:solidFill>
              </a:defRPr>
            </a:pPr>
            <a:r>
              <a:rPr sz="22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27" name="workflow-4">
            <a:extLst xmlns:a="http://schemas.openxmlformats.org/drawingml/2006/main">
              <a:ext uri="{FF2B5EF4-FFF2-40B4-BE49-F238E27FC236}">
                <a16:creationId xmlns:a16="http://schemas.microsoft.com/office/drawing/2014/main" id="{9519C7D1-C7A3-480D-BB09-8B196CDE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790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CDB911-F0C2-46A7-80C6-184A807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14650"/>
            <a:ext cx="1790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99481-2E1F-4AD9-8CE2-925B45F2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242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A7"/>
                </a:solidFill>
              </a:defRPr>
            </a:pPr>
            <a:r>
              <a:rPr sz="1350" b="1">
                <a:solidFill>
                  <a:srgbClr val="C000A7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69463F-BC1C-42FF-8468-EB2AF66C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Optional AI</a:t>
            </a:r>
          </a:p>
          <a:p xmlns:a="http://schemas.openxmlformats.org/drawingml/2006/main">
            <a:pPr algn="l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66EA06-7DD8-48E4-A26B-65B3296A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24225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36273"/>
                </a:solidFill>
              </a:defRPr>
            </a:pPr>
            <a:r>
              <a:rPr sz="2250" b="1">
                <a:solidFill>
                  <a:srgbClr val="536273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208141-86F5-4F8E-A1C9-B1A44448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73"/>
                </a:solidFill>
              </a:defRPr>
            </a:pPr>
            <a:r>
              <a:rPr sz="1650" b="0">
                <a:solidFill>
                  <a:srgbClr val="536273"/>
                </a:solidFill>
              </a:rPr>
              <a:t>Run it entirely locally when that is the right fit. When AI can help, use the scrubbed package.</a:t>
            </a:r>
          </a:p>
        </p:txBody>
      </p:sp>
    </p:spTree>
    <p:extLst>
      <p:ext uri="{BB962C8B-B14F-4D97-AF65-F5344CB8AC3E}">
        <p14:creationId xmlns:p14="http://schemas.microsoft.com/office/powerpoint/2010/main" val="957833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ED8A91-7830-4591-8243-A3F8B27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WHAT STAYS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D6438-1B8E-4FF5-8396-C016CEC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AI can work from scrubbed evidence, not raw environment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B2789-BAE2-4914-AAD5-B69C5C1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CertifEye keeps the information needed to map data back to an environment on the local system.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77A5C-5E9A-4FE9-BB13-D1C2BDDD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15E3E-10F0-4A4E-BB13-EE4946BF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69634-BEE6-4F9E-B5CE-E5813EC8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4</a:t>
            </a:r>
          </a:p>
        </p:txBody>
      </p:sp>
      <p:sp>
        <p:nvSpPr>
          <p:cNvPr id="7" name="local-boundary">
            <a:extLst xmlns:a="http://schemas.openxmlformats.org/drawingml/2006/main">
              <a:ext uri="{FF2B5EF4-FFF2-40B4-BE49-F238E27FC236}">
                <a16:creationId xmlns:a16="http://schemas.microsoft.com/office/drawing/2014/main" id="{B8E658DF-158A-47CF-B8DF-2C93602D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953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ADB7C-263F-4A6D-B823-6E59465F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1B2C"/>
                </a:solidFill>
              </a:defRPr>
            </a:pPr>
            <a:r>
              <a:rPr sz="1800" b="1">
                <a:solidFill>
                  <a:srgbClr val="0E1B2C"/>
                </a:solidFill>
              </a:rPr>
              <a:t>Always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6B134-68AE-4C66-9778-9281DA0B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57528-CFD0-4E44-BD6D-BE8EAE2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33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Raw exports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5F6E2-6963-4A36-9941-5906C4C0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43921-DFBB-4886-8C70-CAD156D5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Salts and token maps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7DF24-7E24-432A-A692-17F0C09D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2C131-3E91-49B6-8E5B-046F51F5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29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Private manifests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C3368-EC90-43C7-BF6B-B957AB1A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754"/>
          </a:solidFill>
          <a:ln xmlns:a="http://schemas.openxmlformats.org/drawingml/2006/main" w="9525">
            <a:solidFill>
              <a:srgbClr val="1987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3FA9A-03EC-4FBA-8FAA-08442EE9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Detailed local evidence</a:t>
            </a:r>
          </a:p>
        </p:txBody>
      </p:sp>
      <p:sp>
        <p:nvSpPr>
          <p:cNvPr id="17" name="review-boundary">
            <a:extLst xmlns:a="http://schemas.openxmlformats.org/drawingml/2006/main">
              <a:ext uri="{FF2B5EF4-FFF2-40B4-BE49-F238E27FC236}">
                <a16:creationId xmlns:a16="http://schemas.microsoft.com/office/drawing/2014/main" id="{F9E017D0-05A5-4DAC-8D99-5B8F0FB5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953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D8425-E49D-4B18-A745-69337C24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1B2C"/>
                </a:solidFill>
              </a:defRPr>
            </a:pPr>
            <a:r>
              <a:rPr sz="1800" b="1">
                <a:solidFill>
                  <a:srgbClr val="0E1B2C"/>
                </a:solidFill>
              </a:rPr>
              <a:t>Optional AI review package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300C5-F20D-4E6D-95E7-7D69C6F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46BB9-8B2E-478C-B93A-73BF368F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337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Scrubbed tokens and relationships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CAEAE-1266-40DE-A319-3C07DF2B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67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F04CA-476E-46AC-AB83-7D95C0C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Schema, coverage, and warnings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4757BD-0311-4ABE-ACF1-4772F2B0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20C27-A6AC-4E3F-8673-5521A2D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Deterministic findings and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38F66-15BA-4498-9D0C-39614C56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96A9B-267C-41A4-A63C-3BF390B6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B2C"/>
                </a:solidFill>
              </a:defRPr>
            </a:pPr>
            <a:r>
              <a:rPr sz="1575" b="0">
                <a:solidFill>
                  <a:srgbClr val="0E1B2C"/>
                </a:solidFill>
              </a:rPr>
              <a:t>No raw identities or private mappings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C3C71-0884-4525-835F-6371BA40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72150"/>
            <a:ext cx="922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1B2C"/>
                </a:solidFill>
              </a:defRPr>
            </a:pPr>
            <a:r>
              <a:rPr sz="1650" b="1">
                <a:solidFill>
                  <a:srgbClr val="0E1B2C"/>
                </a:solidFill>
              </a:rPr>
              <a:t>CertifEye is read-only. It does not change the AD CS or PKI environment.</a:t>
            </a:r>
          </a:p>
        </p:txBody>
      </p:sp>
    </p:spTree>
    <p:extLst>
      <p:ext uri="{BB962C8B-B14F-4D97-AF65-F5344CB8AC3E}">
        <p14:creationId xmlns:p14="http://schemas.microsoft.com/office/powerpoint/2010/main" val="6509371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669DDB-90B6-4D67-9256-8E87D36F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TWO COMPLEMENTARY 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FF693-CD4E-4554-AA1A-DE5A7A5C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Deterministic analysis vs. AI assistance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AF289-0833-49E8-8A25-B0B5168B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The offline report gives the same baseline every time. AI can make the evidence easier to interpret and act 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70A57-DF8D-4EAF-AF2D-3E5D9A8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8069A-8521-4944-80D8-09B390AD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F6657-CFDD-41D0-B1F7-6AD69DB2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4A0B8-75CD-4E5D-B106-4B701D7E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244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636E1-B7B1-4262-84D6-7714806E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51244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0F3D1-7C86-4624-8F28-C87A2D53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B2C"/>
                </a:solidFill>
              </a:defRPr>
            </a:pPr>
            <a:r>
              <a:rPr sz="1950" b="1">
                <a:solidFill>
                  <a:srgbClr val="0E1B2C"/>
                </a:solidFill>
              </a:rPr>
              <a:t>Deterministic offline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DF2F0-9EDA-4A86-B7AF-C85DFB0A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28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B2C"/>
                </a:solidFill>
              </a:defRPr>
            </a:pPr>
            <a:r>
              <a:rPr sz="1950" b="1">
                <a:solidFill>
                  <a:srgbClr val="0E1B2C"/>
                </a:solidFill>
              </a:rPr>
              <a:t>Optional AI-assisted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06A58-3FBD-4AC5-B5BE-80E371F7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E3A3F-9566-4A78-8BF9-BBD7BA5E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Repeatable ESC posture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0E00D-FA7A-4B5F-B66F-B632D548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0CDC8-8EF5-4890-A909-D21CC3AB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92891-8BA7-4F4F-955E-DDE9373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Stable findings, coverage, and graph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F6899-BF08-4453-952A-A8261E0F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03177-53FD-43C5-93CB-20135315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135E7-0E1B-41F9-9E26-ECCBEA40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Regression-tested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9DF6B-E8B6-46C3-837F-CB9CB074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B0061-5363-4A56-B047-D741BA8F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F6D7E-A63F-4B6B-A1FB-D4154A5B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Works fully offline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728FA-EE0C-4275-B142-90BF254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70E7E-076F-45B3-872C-0CA05A4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D0951-CC76-4AE9-B31F-372977BC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62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Explain findings in plain language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E094D-9621-4250-BFC8-0D49AF89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81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FE6B8-7B4C-48E3-84BF-E8F0C76C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95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Point out related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8D389-A6DE-4E1A-8956-8BB57B02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1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832E76-3AB0-44B0-9D33-FC9063D4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29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Organize remediation 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8471A-86C6-4DD3-943C-8B5EB751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48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A7"/>
          </a:solidFill>
          <a:ln xmlns:a="http://schemas.openxmlformats.org/drawingml/2006/main" w="9525">
            <a:solidFill>
              <a:srgbClr val="C000A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EC6C8-2847-4F65-A2D8-2DC09869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B2C"/>
                </a:solidFill>
              </a:defRPr>
            </a:pPr>
            <a:r>
              <a:rPr sz="1575" b="1">
                <a:solidFill>
                  <a:srgbClr val="0E1B2C"/>
                </a:solidFill>
              </a:rPr>
              <a:t>Suggest what to validate next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18731-6D42-4CE6-A100-56802DC3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1005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13A4A"/>
                </a:solidFill>
              </a:defRPr>
            </a:pPr>
            <a:r>
              <a:rPr sz="1650" b="1">
                <a:solidFill>
                  <a:srgbClr val="D13A4A"/>
                </a:solidFill>
              </a:rPr>
              <a:t>A finding is evidence to investigate—not proof that abuse occurred.</a:t>
            </a:r>
          </a:p>
        </p:txBody>
      </p:sp>
    </p:spTree>
    <p:extLst>
      <p:ext uri="{BB962C8B-B14F-4D97-AF65-F5344CB8AC3E}">
        <p14:creationId xmlns:p14="http://schemas.microsoft.com/office/powerpoint/2010/main" val="6082719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CD584-CB88-40D5-B807-AAF6DC1F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BUILDING CERTIFEYE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2F3CE-A1A2-4AB6-8C9E-68C76DCA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How AI helped build CertifEye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DBA49-ADBB-4003-989C-D3A35752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It worked because the security decisions and review standards stayed with the practitioner.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9029B-70A0-4C5F-B791-B40303AC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0A5B5-5185-446B-8A63-6BCB835E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7937E-BCD6-4D12-9C72-1C608C97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7847B-D442-4474-A1C3-E0348FE4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BBA70-2C1C-4E6F-AFAF-E2D43DA6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57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Start with the security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CB2C1-375E-412B-9A55-A98EB20B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574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Define the evidence needed, the safety boundaries, and what the tool must not 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E2C82-4418-4771-A85F-31189F2D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D6B22-FCCE-4BA8-9480-BDE8B0D8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10671-1319-404C-BED9-8BAEEC8E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Break the work into testable pieces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B53D4-807D-4D0C-A764-38A403B5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Treat collection, scrubbing, reports, graphs, documentation, and tests as separate deliverables.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850FB-5BFB-443D-A291-CDA9014C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00FB5-3DB7-4D1D-9E0E-A07193A8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64885-202A-4A96-901F-785D6E18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43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Review output like a security engineer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497D26-8C9B-42D3-A713-831C23B9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Challenge false positives, missing evidence, report wording, usability, and remediation guidance.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A245F0-006D-47BD-B01C-C2EF1C10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74650-88DA-48CA-9BC1-A15D9CED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8BCB"/>
                </a:solidFill>
              </a:defRPr>
            </a:pPr>
            <a:r>
              <a:rPr sz="1425" b="1">
                <a:solidFill>
                  <a:srgbClr val="008BCB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22BD9-FEF8-4673-B503-B9B48C01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1B2C"/>
                </a:solidFill>
              </a:defRPr>
            </a:pPr>
            <a:r>
              <a:rPr sz="1725" b="1">
                <a:solidFill>
                  <a:srgbClr val="0E1B2C"/>
                </a:solidFill>
              </a:rPr>
              <a:t>Test with varied scenarios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058D97-D128-4B32-B6F6-C2B8F544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863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3"/>
                </a:solidFill>
              </a:defRPr>
            </a:pPr>
            <a:r>
              <a:rPr sz="1350" b="0">
                <a:solidFill>
                  <a:srgbClr val="536273"/>
                </a:solidFill>
              </a:rPr>
              <a:t>Make sure the tool is not tuned to one environment or one sample report.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CC2B5-1DDE-4D33-ACB0-551DD245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0DA"/>
          </a:solidFill>
          <a:ln xmlns:a="http://schemas.openxmlformats.org/drawingml/2006/main" w="9525">
            <a:solidFill>
              <a:srgbClr val="C5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439FE-C2A4-4661-9CB8-028484D3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000A7"/>
                </a:solidFill>
              </a:defRPr>
            </a:pPr>
            <a:r>
              <a:rPr sz="1650" b="1">
                <a:solidFill>
                  <a:srgbClr val="C000A7"/>
                </a:solidFill>
              </a:rPr>
              <a:t>I set the security rules, review criteria, and guardrails. AI helped turn that direction into code, tests, reports, and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948466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6AA4F5-3456-4F25-991E-9EF7E16C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9F4D4-63B8-4C55-8285-69C9A709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What I’ll show in the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9B52A-F9BC-4993-B38E-F23556B2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A short run through what the tool collects, what stays local, and what the report provides.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FBD92-F0CC-4162-9F71-3519A0D4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3CC3D-96D7-440A-8220-C37A11CC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5D744-4B8D-4AD3-8E21-B87513A3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2B994-D7CE-4C76-91B4-93990C7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FD695-212B-477B-BC1D-81629014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Check prerequisites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1DE71-2CF6-467B-A913-390829FA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Confirm the required tools, permissions, and working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599B3-2AAC-41CC-87F4-CAEC5DA9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384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71D81-6E32-4C1E-82D0-A9874713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B72DB-C308-4A4A-8A73-754ABF24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575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 the collection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08C3C-636E-4294-9641-92978DF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480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Show the selected scope and the safety mode before collecting.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734D3-706F-4736-9E04-CEB18F10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57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27EC3-4F65-4992-9655-9B9B4D22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EA203-670F-4BE2-B521-F8495F22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Analyze synthetic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977E3-163F-436C-B505-454F5C2D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671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Generate the offline findings, coverage, reports, and graph.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EE61D-D5C3-4EC7-9DC6-C3E19BA3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76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18CA0A-EE45-4FBB-B8BE-BBE8FF10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366A7-BBBD-44E7-BAFC-04F5E99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57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 findings and 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8535F1-E5BC-46A2-95EA-58670D41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86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Walk through evidence, validation guidance, and remediation.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21CB2-015F-4242-A4E3-A8D2D602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29577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8BCB"/>
                </a:solidFill>
              </a:defRPr>
            </a:pPr>
            <a:r>
              <a:rPr sz="1650" b="1">
                <a:solidFill>
                  <a:srgbClr val="008BCB"/>
                </a:solidFill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2FEA34-F478-4753-B6AF-518ED586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2C"/>
          </a:solidFill>
          <a:ln xmlns:a="http://schemas.openxmlformats.org/drawingml/2006/main" w="9525">
            <a:solidFill>
              <a:srgbClr val="0E1B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BAF0B-4C93-4004-BB8B-B3971182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Review AI handoff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B5001-A3AE-4ECF-B1A3-AF76BEA1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053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B2C"/>
                </a:solidFill>
              </a:defRPr>
            </a:pPr>
            <a:r>
              <a:rPr sz="1500" b="0">
                <a:solidFill>
                  <a:srgbClr val="0E1B2C"/>
                </a:solidFill>
              </a:rPr>
              <a:t>Use the scrubbed package; keep raw data and private mappings local.</a:t>
            </a:r>
          </a:p>
        </p:txBody>
      </p:sp>
    </p:spTree>
    <p:extLst>
      <p:ext uri="{BB962C8B-B14F-4D97-AF65-F5344CB8AC3E}">
        <p14:creationId xmlns:p14="http://schemas.microsoft.com/office/powerpoint/2010/main" val="812143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59EA6-FB94-41E1-B722-06C7349E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BCB"/>
                </a:solidFill>
              </a:defRPr>
            </a:pPr>
            <a:r>
              <a:rPr sz="1050" b="1">
                <a:solidFill>
                  <a:srgbClr val="008BCB"/>
                </a:solidFill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89644-63BE-4DCD-BE87-77119D29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B2C"/>
                </a:solidFill>
              </a:defRPr>
            </a:pPr>
            <a:r>
              <a:rPr sz="2850" b="1">
                <a:solidFill>
                  <a:srgbClr val="0E1B2C"/>
                </a:solidFill>
              </a:rPr>
              <a:t>Where this can go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0D9FA-8EA6-4ABA-A308-B48FFA33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73"/>
                </a:solidFill>
              </a:defRPr>
            </a:pPr>
            <a:r>
              <a:rPr sz="1500" b="0">
                <a:solidFill>
                  <a:srgbClr val="536273"/>
                </a:solidFill>
              </a:rPr>
              <a:t>The same approach can be extended across the rest of the assessment suite.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1B61C-A27A-4DE9-943D-0BA368BA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CB"/>
          </a:solidFill>
          <a:ln xmlns:a="http://schemas.openxmlformats.org/drawingml/2006/main" w="9525">
            <a:solidFill>
              <a:srgbClr val="008B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91A1E-4D71-4FD9-ACD7-517E7B1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CertifEye  •  AD CS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65AAA-0BAD-4213-81DA-17D6A117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273"/>
                </a:solidFill>
              </a:defRPr>
            </a:pPr>
            <a:r>
              <a:rPr sz="975" b="0">
                <a:solidFill>
                  <a:srgbClr val="536273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794A8-B8F2-49EB-A04C-A50E12F0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9FC"/>
          </a:solidFill>
          <a:ln xmlns:a="http://schemas.openxmlformats.org/drawingml/2006/main" w="9525">
            <a:solidFill>
              <a:srgbClr val="F5F9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71FD1-82B1-458C-A522-3A7DD2AB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Expert security</a:t>
            </a:r>
          </a:p>
          <a:p xmlns:a="http://schemas.openxmlformats.org/drawingml/2006/main">
            <a:pPr algn="ctr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02C43-608F-434A-83CB-76D7767A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8BCB"/>
                </a:solidFill>
              </a:defRPr>
            </a:pPr>
            <a:r>
              <a:rPr sz="2250" b="1">
                <a:solidFill>
                  <a:srgbClr val="008BCB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1FB4C-893D-493F-A052-FCC4CBDF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3370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Sensitive data</a:t>
            </a:r>
          </a:p>
          <a:p xmlns:a="http://schemas.openxmlformats.org/drawingml/2006/main">
            <a:pPr algn="ctr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stays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37897-6E10-4438-A01D-90AE39E8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146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BFCB"/>
                </a:solidFill>
              </a:defRPr>
            </a:pPr>
            <a:r>
              <a:rPr sz="2250" b="1">
                <a:solidFill>
                  <a:srgbClr val="00BFCB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9511C-F742-4106-AA05-B86A895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337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Clear reports +</a:t>
            </a:r>
          </a:p>
          <a:p xmlns:a="http://schemas.openxmlformats.org/drawingml/2006/main">
            <a:pPr algn="ctr">
              <a:defRPr sz="1875" b="1">
                <a:solidFill>
                  <a:srgbClr val="0E1B2C"/>
                </a:solidFill>
              </a:defRPr>
            </a:pPr>
            <a:r>
              <a:rPr sz="1875" b="1">
                <a:solidFill>
                  <a:srgbClr val="0E1B2C"/>
                </a:solidFill>
              </a:rPr>
              <a:t>AI help when useful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EB1CA5-FAC9-41C6-999D-B70A4E1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43500"/>
            <a:ext cx="9867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Going forward, the same approach can support ADmission Control, GPOsture, DNSense, and AuditAble.</a:t>
            </a:r>
          </a:p>
        </p:txBody>
      </p:sp>
    </p:spTree>
    <p:extLst>
      <p:ext uri="{BB962C8B-B14F-4D97-AF65-F5344CB8AC3E}">
        <p14:creationId xmlns:p14="http://schemas.microsoft.com/office/powerpoint/2010/main" val="532209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2026-07-24T13:49:20.4920000Z</dcterms:created>
  <dcterms:modified xsi:type="dcterms:W3CDTF">2026-07-24T13:49:20.4920000Z</dcterms:modified>
</coreProperties>
</file>